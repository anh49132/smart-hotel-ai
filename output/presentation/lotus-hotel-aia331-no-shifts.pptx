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2e066e2d3d4001" /><Relationship Type="http://schemas.openxmlformats.org/officeDocument/2006/relationships/extended-properties" Target="/docProps/app.xml" Id="Rd9b7261332db4e14" /><Relationship Type="http://schemas.openxmlformats.org/officeDocument/2006/relationships/officeDocument" Target="/ppt/presentation.xml" Id="Rf7db97b7f3f440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78a48f904d43b7"/>
  </p:sldMasterIdLst>
  <p:notesMasterIdLst>
    <p:notesMasterId xmlns:r="http://schemas.openxmlformats.org/officeDocument/2006/relationships" r:id="R1a73a67a93c64ae1"/>
  </p:notesMasterIdLst>
  <p:sldIdLst>
    <p:sldId xmlns:r="http://schemas.openxmlformats.org/officeDocument/2006/relationships" id="256" r:id="R14aec96d739041ab"/>
    <p:sldId xmlns:r="http://schemas.openxmlformats.org/officeDocument/2006/relationships" id="257" r:id="R1090ff8866294218"/>
    <p:sldId xmlns:r="http://schemas.openxmlformats.org/officeDocument/2006/relationships" id="258" r:id="R4ae5bf86587b44ff"/>
    <p:sldId xmlns:r="http://schemas.openxmlformats.org/officeDocument/2006/relationships" id="259" r:id="R4d8014b7ee0149b4"/>
    <p:sldId xmlns:r="http://schemas.openxmlformats.org/officeDocument/2006/relationships" id="260" r:id="R0077892bfd0c49bf"/>
    <p:sldId xmlns:r="http://schemas.openxmlformats.org/officeDocument/2006/relationships" id="261" r:id="R6b82a12449f447c9"/>
    <p:sldId xmlns:r="http://schemas.openxmlformats.org/officeDocument/2006/relationships" id="262" r:id="R18f2c24d8a224937"/>
    <p:sldId xmlns:r="http://schemas.openxmlformats.org/officeDocument/2006/relationships" id="263" r:id="R72fb6199dbe6419d"/>
    <p:sldId xmlns:r="http://schemas.openxmlformats.org/officeDocument/2006/relationships" id="264" r:id="Rb34cfd62a6d4416b"/>
    <p:sldId xmlns:r="http://schemas.openxmlformats.org/officeDocument/2006/relationships" id="265" r:id="R277ab11b16494c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66288ea1b4059" /><Relationship Type="http://schemas.openxmlformats.org/officeDocument/2006/relationships/slideMaster" Target="/ppt/slideMasters/slideMaster1.xml" Id="R1978a48f904d43b7" /><Relationship Type="http://schemas.openxmlformats.org/officeDocument/2006/relationships/notesMaster" Target="/ppt/notesMasters/notesMaster1.xml" Id="R1a73a67a93c64ae1" /><Relationship Type="http://schemas.openxmlformats.org/officeDocument/2006/relationships/presProps" Target="/ppt/presProps.xml" Id="R9b0abc6d78814068" /><Relationship Type="http://schemas.openxmlformats.org/officeDocument/2006/relationships/tableStyles" Target="/ppt/tableStyles.xml" Id="R06ed5ea229e34db5" /><Relationship Type="http://schemas.openxmlformats.org/officeDocument/2006/relationships/slide" Target="/ppt/slides/slide1.xml" Id="R14aec96d739041ab" /><Relationship Type="http://schemas.openxmlformats.org/officeDocument/2006/relationships/slide" Target="/ppt/slides/slide2.xml" Id="R1090ff8866294218" /><Relationship Type="http://schemas.openxmlformats.org/officeDocument/2006/relationships/slide" Target="/ppt/slides/slide3.xml" Id="R4ae5bf86587b44ff" /><Relationship Type="http://schemas.openxmlformats.org/officeDocument/2006/relationships/slide" Target="/ppt/slides/slide4.xml" Id="R4d8014b7ee0149b4" /><Relationship Type="http://schemas.openxmlformats.org/officeDocument/2006/relationships/slide" Target="/ppt/slides/slide5.xml" Id="R0077892bfd0c49bf" /><Relationship Type="http://schemas.openxmlformats.org/officeDocument/2006/relationships/slide" Target="/ppt/slides/slide6.xml" Id="R6b82a12449f447c9" /><Relationship Type="http://schemas.openxmlformats.org/officeDocument/2006/relationships/slide" Target="/ppt/slides/slide7.xml" Id="R18f2c24d8a224937" /><Relationship Type="http://schemas.openxmlformats.org/officeDocument/2006/relationships/slide" Target="/ppt/slides/slide8.xml" Id="R72fb6199dbe6419d" /><Relationship Type="http://schemas.openxmlformats.org/officeDocument/2006/relationships/slide" Target="/ppt/slides/slide9.xml" Id="Rb34cfd62a6d4416b" /><Relationship Type="http://schemas.openxmlformats.org/officeDocument/2006/relationships/slide" Target="/ppt/slides/slide10.xml" Id="R277ab11b16494c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653fc2fda47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26800a2454f3c" /><Relationship Type="http://schemas.openxmlformats.org/officeDocument/2006/relationships/notesMaster" Target="/ppt/notesMasters/notesMaster1.xml" Id="R575aa2842f7c43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08a999ab234f93" /><Relationship Type="http://schemas.openxmlformats.org/officeDocument/2006/relationships/notesMaster" Target="/ppt/notesMasters/notesMaster1.xml" Id="R30ac290ee9b1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d3527554c048e5" /><Relationship Type="http://schemas.openxmlformats.org/officeDocument/2006/relationships/notesMaster" Target="/ppt/notesMasters/notesMaster1.xml" Id="R4c7791253795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8d7c08abed4ff9" /><Relationship Type="http://schemas.openxmlformats.org/officeDocument/2006/relationships/notesMaster" Target="/ppt/notesMasters/notesMaster1.xml" Id="R468688cd5de540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b7fafc8064ed5" /><Relationship Type="http://schemas.openxmlformats.org/officeDocument/2006/relationships/notesMaster" Target="/ppt/notesMasters/notesMaster1.xml" Id="R92b37ed7142546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71e027a6ba4885" /><Relationship Type="http://schemas.openxmlformats.org/officeDocument/2006/relationships/notesMaster" Target="/ppt/notesMasters/notesMaster1.xml" Id="R587cce8ad69949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1ca6c86d349e0" /><Relationship Type="http://schemas.openxmlformats.org/officeDocument/2006/relationships/notesMaster" Target="/ppt/notesMasters/notesMaster1.xml" Id="R17b0933620dc44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d7ffe4d85d4edb" /><Relationship Type="http://schemas.openxmlformats.org/officeDocument/2006/relationships/notesMaster" Target="/ppt/notesMasters/notesMaster1.xml" Id="Rada03b2ecb3e4a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43bfd9bd7c4c2f" /><Relationship Type="http://schemas.openxmlformats.org/officeDocument/2006/relationships/notesMaster" Target="/ppt/notesMasters/notesMaster1.xml" Id="R082181eff5a64e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25f803ccc14a35" /><Relationship Type="http://schemas.openxmlformats.org/officeDocument/2006/relationships/notesMaster" Target="/ppt/notesMasters/notesMaster1.xml" Id="Rdb8c74ecd47c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hệ thống quản lý nội bộ. Nguồn: docs/technical-report.md. Giới thiệu thành viên bằng tên thật khi bảo vệ; không dựng minh chứng làm việc.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docs/technical-report.md. Quản trị viên tạo/kích hoạt và cấp vai trò nhân viên, không có trang tự đăng ký công khai. Không có cổng khách hoặc thanh toán trực tuyến.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 hệ: Browser gọi FastAPI; services truy vấn PostgreSQL và gửi dữ liệu đã lọc cho Gemini. Nguồn: backend/api, backend/services, core, docs/technical-report.md.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browser QA thật, dữ liệu giả. Nguồn docs/images/browser-desktop.png. Minh họa khoảng ngày nửa mở và sự khác nhau giữa phòng sẵn sàng vật lý với phòng trống theo lịch.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booking/frontdesk/housekeeping services và tests/backend/test_booking_consistency.py, test_booking_changes.py, test_release_acceptance.py. Demo cả tình huống trùng lịch và phòng bảo trì.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Nghiệp vụ thu/hoàn trực tiếp sau khi bỏ ca thu ngân theo yêu cầu người dùng. Nguồn: money_service.py, refunds_service.py, test_payments_without_shifts.py. Giữ phân quyền, chống lặp, số dư và dữ liệu cũ. Chứng từ nội bộ.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ai_reports.py, email_service.py, room_advice.py; không còn chức năng AI bàn giao ca. Tư vấn, email và báo cáo/khuyến mại vẫn đáp ứng đề. Bằng chứng gọi thật trước đó trong docs/ai-live-evaluation-2026-10-23.json.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Nghiệm thu sau bỏ ca thu ngân: PostgreSQL 164 passed, SQLite 162 passed/2 skip. Các test ca đã bỏ được thay bằng hồi quy thu/hoàn trực tiếp và giữ dữ liệu cũ. Nguồn docs/payment-simplification.md. Backup/restore và benchmark trên slide là bằng chứng trước đợt thay đổi này, schema vẫn 0022.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Render Free https://render.com/docs/free. Nguồn triển khai: docs/render-release.md. CI GitHub PostgreSQL/SQLite/Docker đã success. Artifact đầu b22e0cc live; 18 smoke check thật gồm PDF/Gemini. DB hết hạn 22/11/2026, không có SLA. Không thay đổi nhatot.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docs/demo-script.md, docs/ke-hoach-hoan-thien-2-nguoi.md, docs/ai-usage-log.md. Coding agent hỗ trợ triển khai theo phân công Git. Sinh viên phải thực hiện review/diễn tập thật, không suy ra từ author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5b2c9a2e74d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e76ee87424a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c261ccf7e4f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40dba1ee642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ee13da18d46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d207251cb4f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47A79C-8D49-4344-9D4D-C379222B0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2BD7A9-961E-4E47-9E15-C193606540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2CBB7D-B830-4644-BD0E-0BCD4EE2F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CC7A20-5B14-451D-BB0D-0336D461B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2248B5-DDF8-4C73-9A96-BC2F207D9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7C17FA-8CD6-4A86-8D7F-CD6B5EA00F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3042DE-1753-41B3-BAC6-347DB07410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CECB61-627B-4A8A-A06D-B0762D688A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FFCC5C-9613-41ED-A259-23F870F59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ED740C-3341-42E7-8008-63FFDFFE0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a2c9e6ea54578" /><Relationship Type="http://schemas.openxmlformats.org/officeDocument/2006/relationships/slideLayout" Target="/ppt/slideLayouts/slideLayout1.xml" Id="Rb7c44c194ac84b93" /><Relationship Type="http://schemas.openxmlformats.org/officeDocument/2006/relationships/slideLayout" Target="/ppt/slideLayouts/slideLayout2.xml" Id="Rcdd36f5c9d304d84" /><Relationship Type="http://schemas.openxmlformats.org/officeDocument/2006/relationships/slideLayout" Target="/ppt/slideLayouts/slideLayout3.xml" Id="R71cca499348d408a" /><Relationship Type="http://schemas.openxmlformats.org/officeDocument/2006/relationships/slideLayout" Target="/ppt/slideLayouts/slideLayout4.xml" Id="R183dccb2283e4528" /><Relationship Type="http://schemas.openxmlformats.org/officeDocument/2006/relationships/slideLayout" Target="/ppt/slideLayouts/slideLayout5.xml" Id="Rf1d10599d61d442b" /><Relationship Type="http://schemas.openxmlformats.org/officeDocument/2006/relationships/slideLayout" Target="/ppt/slideLayouts/slideLayout6.xml" Id="R945d045f4dd848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c44c194ac84b93"/>
    <p:sldLayoutId xmlns:r="http://schemas.openxmlformats.org/officeDocument/2006/relationships" id="2147483650" r:id="Rcdd36f5c9d304d84"/>
    <p:sldLayoutId xmlns:r="http://schemas.openxmlformats.org/officeDocument/2006/relationships" id="2147483651" r:id="R71cca499348d408a"/>
    <p:sldLayoutId xmlns:r="http://schemas.openxmlformats.org/officeDocument/2006/relationships" id="2147483652" r:id="R183dccb2283e4528"/>
    <p:sldLayoutId xmlns:r="http://schemas.openxmlformats.org/officeDocument/2006/relationships" id="2147483653" r:id="Rf1d10599d61d442b"/>
    <p:sldLayoutId xmlns:r="http://schemas.openxmlformats.org/officeDocument/2006/relationships" id="2147483654" r:id="R945d045f4dd848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e4c67e38f45b8" /><Relationship Type="http://schemas.openxmlformats.org/officeDocument/2006/relationships/notesSlide" Target="/ppt/notesSlides/notesSlide1.xml" Id="R0cafb2ad9d5f40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a6396ca064a67" /><Relationship Type="http://schemas.openxmlformats.org/officeDocument/2006/relationships/notesSlide" Target="/ppt/notesSlides/notesSlide2.xml" Id="R9d1b6231aaf748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0d0defdb14564" /><Relationship Type="http://schemas.openxmlformats.org/officeDocument/2006/relationships/notesSlide" Target="/ppt/notesSlides/notesSlide3.xml" Id="R18942d9483d04f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442f4761a48a5" /><Relationship Type="http://schemas.openxmlformats.org/officeDocument/2006/relationships/image" Target="/ppt/media/image.jpeg" Id="Rc573874cde48492e" /><Relationship Type="http://schemas.openxmlformats.org/officeDocument/2006/relationships/notesSlide" Target="/ppt/notesSlides/notesSlide4.xml" Id="R2bf3191a40ce4f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68387b2564571" /><Relationship Type="http://schemas.openxmlformats.org/officeDocument/2006/relationships/notesSlide" Target="/ppt/notesSlides/notesSlide5.xml" Id="Rc8983ccd71224a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65a50c6724d0d" /><Relationship Type="http://schemas.openxmlformats.org/officeDocument/2006/relationships/notesSlide" Target="/ppt/notesSlides/notesSlide6.xml" Id="R9033f207ca1c47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cc2c858a4479c" /><Relationship Type="http://schemas.openxmlformats.org/officeDocument/2006/relationships/notesSlide" Target="/ppt/notesSlides/notesSlide7.xml" Id="R09a753a12b1946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a57d984c147cd" /><Relationship Type="http://schemas.openxmlformats.org/officeDocument/2006/relationships/notesSlide" Target="/ppt/notesSlides/notesSlide8.xml" Id="R6189c37f614443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4ab9eaa064009" /><Relationship Type="http://schemas.openxmlformats.org/officeDocument/2006/relationships/notesSlide" Target="/ppt/notesSlides/notesSlide9.xml" Id="R5ecc82eb28154a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1f6fe528449c8" /><Relationship Type="http://schemas.openxmlformats.org/officeDocument/2006/relationships/notesSlide" Target="/ppt/notesSlides/notesSlide10.xml" Id="Rfb18bdafc3d941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11E7-EC87-453D-B1B1-D99B449E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Lotus Hotel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F87E7-7C04-4F87-BA21-2E9C09D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32868-CB2C-43A5-AD2F-3AD4EED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8352D"/>
                </a:solidFill>
              </a:defRPr>
            </a:defPPr>
            <a:lvl1pPr>
              <a:defRPr sz="4800" b="1">
                <a:solidFill>
                  <a:srgbClr val="18352D"/>
                </a:solidFill>
              </a:defRPr>
            </a:lvl1pPr>
            <a:lvl2pPr>
              <a:defRPr sz="4800" b="1">
                <a:solidFill>
                  <a:srgbClr val="18352D"/>
                </a:solidFill>
              </a:defRPr>
            </a:lvl2pPr>
            <a:lvl3pPr>
              <a:defRPr sz="4800" b="1">
                <a:solidFill>
                  <a:srgbClr val="18352D"/>
                </a:solidFill>
              </a:defRPr>
            </a:lvl3pPr>
            <a:lvl4pPr>
              <a:defRPr sz="4800" b="1">
                <a:solidFill>
                  <a:srgbClr val="18352D"/>
                </a:solidFill>
              </a:defRPr>
            </a:lvl4pPr>
            <a:lvl5pPr>
              <a:defRPr sz="4800" b="1">
                <a:solidFill>
                  <a:srgbClr val="18352D"/>
                </a:solidFill>
              </a:defRPr>
            </a:lvl5pPr>
            <a:lvl6pPr>
              <a:defRPr sz="4800" b="1">
                <a:solidFill>
                  <a:srgbClr val="18352D"/>
                </a:solidFill>
              </a:defRPr>
            </a:lvl6pPr>
            <a:lvl7pPr>
              <a:defRPr sz="4800" b="1">
                <a:solidFill>
                  <a:srgbClr val="18352D"/>
                </a:solidFill>
              </a:defRPr>
            </a:lvl7pPr>
            <a:lvl8pPr>
              <a:defRPr sz="4800" b="1">
                <a:solidFill>
                  <a:srgbClr val="18352D"/>
                </a:solidFill>
              </a:defRPr>
            </a:lvl8pPr>
            <a:lvl9pPr>
              <a:defRPr sz="48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8352D"/>
                </a:solidFill>
              </a:defRPr>
            </a:pPr>
            <a:r>
              <a:rPr sz="4800" b="1">
                <a:solidFill>
                  <a:srgbClr val="18352D"/>
                </a:solidFill>
              </a:rPr>
              <a:t>Hệ thống quản lý khách sạn</a:t>
            </a:r>
          </a:p>
          <a:p xmlns:a="http://schemas.openxmlformats.org/drawingml/2006/main">
            <a:pPr>
              <a:defRPr sz="4800" b="1">
                <a:solidFill>
                  <a:srgbClr val="18352D"/>
                </a:solidFill>
              </a:defRPr>
            </a:pPr>
            <a:r>
              <a:rPr sz="4800" b="1">
                <a:solidFill>
                  <a:srgbClr val="18352D"/>
                </a:solidFill>
              </a:rPr>
              <a:t>có tích hợp Gemini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3B7FA-5AA3-4DB2-9ACA-5988123A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AIA331 · Dự án 80270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Bản bàn giao tháng 10/2026</a:t>
            </a:r>
          </a:p>
        </p:txBody>
      </p:sp>
    </p:spTree>
    <p:extLst>
      <p:ext uri="{BB962C8B-B14F-4D97-AF65-F5344CB8AC3E}">
        <p14:creationId xmlns:p14="http://schemas.microsoft.com/office/powerpoint/2010/main" val="546139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0EDA1-6176-4CDA-8483-76B6CF23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Phạm vi và người dùng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3D594-D223-4E4A-8F9D-64ABE96D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D3499-B4F1-49B6-9407-386F8098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Quản trị viên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Nhân sự, chính sách và báo cáo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48C50-8B00-4EAC-A53B-1F1F7F4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Lễ tân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Đặt phòng, lưu trú và tiền cọc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5080A-0309-4A5A-B740-C47348E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Kế toán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Hóa đơn, thu/hoàn và đối soát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CDF59-CB81-4892-8E0E-34E97CF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Buồng phòng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Dọn và kiểm tra phòng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5A9D0-02AE-451B-B8B8-419C6BF1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52D"/>
                </a:solidFill>
              </a:defRPr>
            </a:defPPr>
            <a:lvl1pPr>
              <a:defRPr sz="1950" b="0">
                <a:solidFill>
                  <a:srgbClr val="18352D"/>
                </a:solidFill>
              </a:defRPr>
            </a:lvl1pPr>
            <a:lvl2pPr>
              <a:defRPr sz="1950" b="0">
                <a:solidFill>
                  <a:srgbClr val="18352D"/>
                </a:solidFill>
              </a:defRPr>
            </a:lvl2pPr>
            <a:lvl3pPr>
              <a:defRPr sz="1950" b="0">
                <a:solidFill>
                  <a:srgbClr val="18352D"/>
                </a:solidFill>
              </a:defRPr>
            </a:lvl3pPr>
            <a:lvl4pPr>
              <a:defRPr sz="1950" b="0">
                <a:solidFill>
                  <a:srgbClr val="18352D"/>
                </a:solidFill>
              </a:defRPr>
            </a:lvl4pPr>
            <a:lvl5pPr>
              <a:defRPr sz="1950" b="0">
                <a:solidFill>
                  <a:srgbClr val="18352D"/>
                </a:solidFill>
              </a:defRPr>
            </a:lvl5pPr>
            <a:lvl6pPr>
              <a:defRPr sz="1950" b="0">
                <a:solidFill>
                  <a:srgbClr val="18352D"/>
                </a:solidFill>
              </a:defRPr>
            </a:lvl6pPr>
            <a:lvl7pPr>
              <a:defRPr sz="1950" b="0">
                <a:solidFill>
                  <a:srgbClr val="18352D"/>
                </a:solidFill>
              </a:defRPr>
            </a:lvl7pPr>
            <a:lvl8pPr>
              <a:defRPr sz="1950" b="0">
                <a:solidFill>
                  <a:srgbClr val="18352D"/>
                </a:solidFill>
              </a:defRPr>
            </a:lvl8pPr>
            <a:lvl9pPr>
              <a:defRPr sz="195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352D"/>
                </a:solidFill>
              </a:defRPr>
            </a:pPr>
            <a:r>
              <a:rPr sz="1950" b="0">
                <a:solidFill>
                  <a:srgbClr val="18352D"/>
                </a:solidFill>
              </a:rPr>
              <a:t>Một khách sạn · nghiệp vụ nội bộ · nhân viên xác nhận giao dịch</a:t>
            </a:r>
          </a:p>
        </p:txBody>
      </p:sp>
    </p:spTree>
    <p:extLst>
      <p:ext uri="{BB962C8B-B14F-4D97-AF65-F5344CB8AC3E}">
        <p14:creationId xmlns:p14="http://schemas.microsoft.com/office/powerpoint/2010/main" val="442587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06AB8-1CAD-4DEC-AF17-F0BED881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Kiến trúc và nguồn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1F03A-7633-4C2C-9B32-995A3CE3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91315-BC51-4753-BEDC-3A915715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Browser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Jinja, Bootstrap và 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3D42-4EFE-44BC-9E2F-9D8FBAC8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FastAPI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Phân quyền và services nghiệp vụ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6A6D4-708E-43EC-BCC7-019E2B3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PostgreSQL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Ràng buộc, transaction, Alembic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BB432-3019-41A3-BADB-EC3095C3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Gemini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Đề xuất có schema và đối chiếu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89AF9-5CC2-4FB5-8E0A-D24604D0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Backend quyết định phòng trống và tiền. AI tạo đề xuất/bản nháp.</a:t>
            </a:r>
          </a:p>
        </p:txBody>
      </p:sp>
    </p:spTree>
    <p:extLst>
      <p:ext uri="{BB962C8B-B14F-4D97-AF65-F5344CB8AC3E}">
        <p14:creationId xmlns:p14="http://schemas.microsoft.com/office/powerpoint/2010/main" val="1589069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149F9-B5FD-41C0-9A69-E98D35A2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Lịch phòng và thao tác đặt phòng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8B3CD-E49E-4EF6-9102-AD5E7177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6617D-B45D-4FFB-9A15-040709725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3874cde48492e"/>
          <a:stretch xmlns:a="http://schemas.openxmlformats.org/drawingml/2006/main"/>
        </p:blipFill>
        <p:spPr>
          <a:xfrm xmlns:a="http://schemas.openxmlformats.org/drawingml/2006/main">
            <a:off x="1351507" y="1619250"/>
            <a:ext cx="7012487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99E4C-8A11-46B6-ACC6-4B75DB06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190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Lọc ngày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Chọn ô lịch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Kiểm tra lại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tại backend</a:t>
            </a:r>
          </a:p>
        </p:txBody>
      </p:sp>
    </p:spTree>
    <p:extLst>
      <p:ext uri="{BB962C8B-B14F-4D97-AF65-F5344CB8AC3E}">
        <p14:creationId xmlns:p14="http://schemas.microsoft.com/office/powerpoint/2010/main" val="416498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8463A-E45C-45F5-8054-6A69A98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Lưu trú và kiểm soát đặt trùng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D0907-9D10-4075-8C9E-98B16F3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6B901-C1D1-41E6-87EC-9F177023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Đặt phòng → Nhận phòng → Trả phòng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Đổi lịch/phòng lưu lịch sử và giá từng đêm.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Khoảng [ngày nhận, ngày trả) cho phép lượt kế tiếp cùng ngày.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Transaction và khóa bảo vệ yêu cầu đồng thời.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Trả phòng tạo công việc dọn và kiểm tra.</a:t>
            </a:r>
          </a:p>
        </p:txBody>
      </p:sp>
    </p:spTree>
    <p:extLst>
      <p:ext uri="{BB962C8B-B14F-4D97-AF65-F5344CB8AC3E}">
        <p14:creationId xmlns:p14="http://schemas.microsoft.com/office/powerpoint/2010/main" val="1987775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4613-3D54-44FC-B22D-F87F04C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Tiền cọc, hóa đơn và thanh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AA1AB-AC94-4AAF-833D-148DAE8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D718D-44D2-4A0D-828E-B3F87BA5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Giá từng đêm + dịch vụ + phụ thu − giảm giá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Tiền cọc và khoản thu được đối trừ theo sổ giao dịch.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Hoàn tiền có quyền, lý do và giới hạn theo số đã thu.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Thu/hoàn trực tiếp theo booking, không cần mở ca.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Chứng từ PDF là chứng từ nội bộ.</a:t>
            </a:r>
          </a:p>
        </p:txBody>
      </p:sp>
    </p:spTree>
    <p:extLst>
      <p:ext uri="{BB962C8B-B14F-4D97-AF65-F5344CB8AC3E}">
        <p14:creationId xmlns:p14="http://schemas.microsoft.com/office/powerpoint/2010/main" val="911420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E51F1-730E-4655-85B2-6467174A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Gemini và kiểm soát đầu 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B550E-1CF1-427A-B1DE-46662CFD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94A1B-249C-45EC-9CE0-0762297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Tư vấn phòng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Chỉ ID/giá/phòng hợp lệ từ truy vấn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CC3F0-94F0-4E58-9EE1-07905F6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Email nghiệp vụ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Theo trạng thái, lưu nguồn và lịch sử duyệt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87EAB-FC23-43F2-B718-A87210B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Báo cáo công suất và khuyến mại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Con số khớp snapshot, khuyến mại cần quản lý duyệt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9E281-8BBE-49E4-86D1-EC1C60E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</a:defRPr>
            </a:defPPr>
            <a:lvl1pPr>
              <a:defRPr sz="1800" b="0">
                <a:solidFill>
                  <a:srgbClr val="18352D"/>
                </a:solidFill>
              </a:defRPr>
            </a:lvl1pPr>
            <a:lvl2pPr>
              <a:defRPr sz="1800" b="0">
                <a:solidFill>
                  <a:srgbClr val="18352D"/>
                </a:solidFill>
              </a:defRPr>
            </a:lvl2pPr>
            <a:lvl3pPr>
              <a:defRPr sz="1800" b="0">
                <a:solidFill>
                  <a:srgbClr val="18352D"/>
                </a:solidFill>
              </a:defRPr>
            </a:lvl3pPr>
            <a:lvl4pPr>
              <a:defRPr sz="1800" b="0">
                <a:solidFill>
                  <a:srgbClr val="18352D"/>
                </a:solidFill>
              </a:defRPr>
            </a:lvl4pPr>
            <a:lvl5pPr>
              <a:defRPr sz="1800" b="0">
                <a:solidFill>
                  <a:srgbClr val="18352D"/>
                </a:solidFill>
              </a:defRPr>
            </a:lvl5pPr>
            <a:lvl6pPr>
              <a:defRPr sz="1800" b="0">
                <a:solidFill>
                  <a:srgbClr val="18352D"/>
                </a:solidFill>
              </a:defRPr>
            </a:lvl6pPr>
            <a:lvl7pPr>
              <a:defRPr sz="1800" b="0">
                <a:solidFill>
                  <a:srgbClr val="18352D"/>
                </a:solidFill>
              </a:defRPr>
            </a:lvl7pPr>
            <a:lvl8pPr>
              <a:defRPr sz="1800" b="0">
                <a:solidFill>
                  <a:srgbClr val="18352D"/>
                </a:solidFill>
              </a:defRPr>
            </a:lvl8pPr>
            <a:lvl9pPr>
              <a:defRPr sz="18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</a:defRPr>
            </a:pPr>
            <a:r>
              <a:rPr sz="1800" b="0">
                <a:solidFill>
                  <a:srgbClr val="18352D"/>
                </a:solidFill>
              </a:rPr>
              <a:t>Không gửi giấy tờ hoặc thông tin thanh toán. Không tự ghi nghiệp vụ.</a:t>
            </a:r>
          </a:p>
        </p:txBody>
      </p:sp>
    </p:spTree>
    <p:extLst>
      <p:ext uri="{BB962C8B-B14F-4D97-AF65-F5344CB8AC3E}">
        <p14:creationId xmlns:p14="http://schemas.microsoft.com/office/powerpoint/2010/main" val="115445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B6104-D08A-4527-B3A1-7136F44E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Kiểm thử và phục hồi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F8B42-EB81-4F61-916F-6AD1D0DF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A5144-6B7E-4904-9709-AFE7C0D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18352D"/>
                </a:solidFill>
              </a:defRPr>
            </a:defPPr>
            <a:lvl1pPr>
              <a:defRPr sz="6600" b="1">
                <a:solidFill>
                  <a:srgbClr val="18352D"/>
                </a:solidFill>
              </a:defRPr>
            </a:lvl1pPr>
            <a:lvl2pPr>
              <a:defRPr sz="6600" b="1">
                <a:solidFill>
                  <a:srgbClr val="18352D"/>
                </a:solidFill>
              </a:defRPr>
            </a:lvl2pPr>
            <a:lvl3pPr>
              <a:defRPr sz="6600" b="1">
                <a:solidFill>
                  <a:srgbClr val="18352D"/>
                </a:solidFill>
              </a:defRPr>
            </a:lvl3pPr>
            <a:lvl4pPr>
              <a:defRPr sz="6600" b="1">
                <a:solidFill>
                  <a:srgbClr val="18352D"/>
                </a:solidFill>
              </a:defRPr>
            </a:lvl4pPr>
            <a:lvl5pPr>
              <a:defRPr sz="6600" b="1">
                <a:solidFill>
                  <a:srgbClr val="18352D"/>
                </a:solidFill>
              </a:defRPr>
            </a:lvl5pPr>
            <a:lvl6pPr>
              <a:defRPr sz="6600" b="1">
                <a:solidFill>
                  <a:srgbClr val="18352D"/>
                </a:solidFill>
              </a:defRPr>
            </a:lvl6pPr>
            <a:lvl7pPr>
              <a:defRPr sz="6600" b="1">
                <a:solidFill>
                  <a:srgbClr val="18352D"/>
                </a:solidFill>
              </a:defRPr>
            </a:lvl7pPr>
            <a:lvl8pPr>
              <a:defRPr sz="6600" b="1">
                <a:solidFill>
                  <a:srgbClr val="18352D"/>
                </a:solidFill>
              </a:defRPr>
            </a:lvl8pPr>
            <a:lvl9pPr>
              <a:defRPr sz="66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8352D"/>
                </a:solidFill>
              </a:defRPr>
            </a:pPr>
            <a:r>
              <a:rPr sz="6600" b="1">
                <a:solidFill>
                  <a:srgbClr val="18352D"/>
                </a:solidFill>
              </a:rPr>
              <a:t>164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42E6B-F53B-4679-BE15-FE4557F9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52D"/>
                </a:solidFill>
              </a:defRPr>
            </a:defPPr>
            <a:lvl1pPr>
              <a:defRPr sz="2250" b="0">
                <a:solidFill>
                  <a:srgbClr val="18352D"/>
                </a:solidFill>
              </a:defRPr>
            </a:lvl1pPr>
            <a:lvl2pPr>
              <a:defRPr sz="2250" b="0">
                <a:solidFill>
                  <a:srgbClr val="18352D"/>
                </a:solidFill>
              </a:defRPr>
            </a:lvl2pPr>
            <a:lvl3pPr>
              <a:defRPr sz="2250" b="0">
                <a:solidFill>
                  <a:srgbClr val="18352D"/>
                </a:solidFill>
              </a:defRPr>
            </a:lvl3pPr>
            <a:lvl4pPr>
              <a:defRPr sz="2250" b="0">
                <a:solidFill>
                  <a:srgbClr val="18352D"/>
                </a:solidFill>
              </a:defRPr>
            </a:lvl4pPr>
            <a:lvl5pPr>
              <a:defRPr sz="2250" b="0">
                <a:solidFill>
                  <a:srgbClr val="18352D"/>
                </a:solidFill>
              </a:defRPr>
            </a:lvl5pPr>
            <a:lvl6pPr>
              <a:defRPr sz="2250" b="0">
                <a:solidFill>
                  <a:srgbClr val="18352D"/>
                </a:solidFill>
              </a:defRPr>
            </a:lvl6pPr>
            <a:lvl7pPr>
              <a:defRPr sz="2250" b="0">
                <a:solidFill>
                  <a:srgbClr val="18352D"/>
                </a:solidFill>
              </a:defRPr>
            </a:lvl7pPr>
            <a:lvl8pPr>
              <a:defRPr sz="2250" b="0">
                <a:solidFill>
                  <a:srgbClr val="18352D"/>
                </a:solidFill>
              </a:defRPr>
            </a:lvl8pPr>
            <a:lvl9pPr>
              <a:defRPr sz="225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52D"/>
                </a:solidFill>
              </a:defRPr>
            </a:pPr>
            <a:r>
              <a:rPr sz="2250" b="0">
                <a:solidFill>
                  <a:srgbClr val="18352D"/>
                </a:solidFill>
              </a:rPr>
              <a:t>test PostgreSQL đạt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DBF2-9C72-4C74-BDD8-F659DCB2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8352D"/>
                </a:solidFill>
              </a:defRPr>
            </a:defPPr>
            <a:lvl1pPr>
              <a:defRPr sz="4200" b="1">
                <a:solidFill>
                  <a:srgbClr val="18352D"/>
                </a:solidFill>
              </a:defRPr>
            </a:lvl1pPr>
            <a:lvl2pPr>
              <a:defRPr sz="4200" b="1">
                <a:solidFill>
                  <a:srgbClr val="18352D"/>
                </a:solidFill>
              </a:defRPr>
            </a:lvl2pPr>
            <a:lvl3pPr>
              <a:defRPr sz="4200" b="1">
                <a:solidFill>
                  <a:srgbClr val="18352D"/>
                </a:solidFill>
              </a:defRPr>
            </a:lvl3pPr>
            <a:lvl4pPr>
              <a:defRPr sz="4200" b="1">
                <a:solidFill>
                  <a:srgbClr val="18352D"/>
                </a:solidFill>
              </a:defRPr>
            </a:lvl4pPr>
            <a:lvl5pPr>
              <a:defRPr sz="4200" b="1">
                <a:solidFill>
                  <a:srgbClr val="18352D"/>
                </a:solidFill>
              </a:defRPr>
            </a:lvl5pPr>
            <a:lvl6pPr>
              <a:defRPr sz="4200" b="1">
                <a:solidFill>
                  <a:srgbClr val="18352D"/>
                </a:solidFill>
              </a:defRPr>
            </a:lvl6pPr>
            <a:lvl7pPr>
              <a:defRPr sz="4200" b="1">
                <a:solidFill>
                  <a:srgbClr val="18352D"/>
                </a:solidFill>
              </a:defRPr>
            </a:lvl7pPr>
            <a:lvl8pPr>
              <a:defRPr sz="4200" b="1">
                <a:solidFill>
                  <a:srgbClr val="18352D"/>
                </a:solidFill>
              </a:defRPr>
            </a:lvl8pPr>
            <a:lvl9pPr>
              <a:defRPr sz="42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8352D"/>
                </a:solidFill>
              </a:defRPr>
            </a:pPr>
            <a:r>
              <a:rPr sz="4200" b="1">
                <a:solidFill>
                  <a:srgbClr val="18352D"/>
                </a:solidFill>
              </a:rPr>
              <a:t>162 + 2 skip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EE4A0-5FDC-4D19-8FD7-F1043C62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SQLite · skip dành 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71704-052C-472A-AA4C-59C486A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Backup/restore thực: 21 booking, 12 phòng, 23 sequence.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Đối chiếu tổng tiền, số dòng và revision 0022.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Benchmark local: 72 GET tuần tự, chậm nhất 68,21 ms.</a:t>
            </a:r>
          </a:p>
        </p:txBody>
      </p:sp>
    </p:spTree>
    <p:extLst>
      <p:ext uri="{BB962C8B-B14F-4D97-AF65-F5344CB8AC3E}">
        <p14:creationId xmlns:p14="http://schemas.microsoft.com/office/powerpoint/2010/main" val="2024844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661F3-0092-4E6E-AEF6-F283D26E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Triển khai và giới hạn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EF925-E156-423E-A218-841004F3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AAB2E-0B7B-4DD8-81BE-7B3E12E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Docker non-root · PostgreSQL riêng · secrets môi trường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Health check kiểm tra kết nối CSDL.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Render Free có ngủ và hạn mức dùng chung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PostgreSQL Free hết hạn 22/11/2026.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Báo cáo 30/10: mở web trước, chuẩn bị local và bản sao.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D234-2D56-4E75-B46C-81527AB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8352D"/>
                </a:solidFill>
              </a:defRPr>
            </a:defPPr>
            <a:lvl1pPr>
              <a:defRPr sz="1800">
                <a:solidFill>
                  <a:srgbClr val="18352D"/>
                </a:solidFill>
              </a:defRPr>
            </a:lvl1pPr>
            <a:lvl2pPr>
              <a:defRPr sz="1800">
                <a:solidFill>
                  <a:srgbClr val="18352D"/>
                </a:solidFill>
              </a:defRPr>
            </a:lvl2pPr>
            <a:lvl3pPr>
              <a:defRPr sz="1800">
                <a:solidFill>
                  <a:srgbClr val="18352D"/>
                </a:solidFill>
              </a:defRPr>
            </a:lvl3pPr>
            <a:lvl4pPr>
              <a:defRPr sz="1800">
                <a:solidFill>
                  <a:srgbClr val="18352D"/>
                </a:solidFill>
              </a:defRPr>
            </a:lvl4pPr>
            <a:lvl5pPr>
              <a:defRPr sz="1800">
                <a:solidFill>
                  <a:srgbClr val="18352D"/>
                </a:solidFill>
              </a:defRPr>
            </a:lvl5pPr>
            <a:lvl6pPr>
              <a:defRPr sz="1800">
                <a:solidFill>
                  <a:srgbClr val="18352D"/>
                </a:solidFill>
              </a:defRPr>
            </a:lvl6pPr>
            <a:lvl7pPr>
              <a:defRPr sz="1800">
                <a:solidFill>
                  <a:srgbClr val="18352D"/>
                </a:solidFill>
              </a:defRPr>
            </a:lvl7pPr>
            <a:lvl8pPr>
              <a:defRPr sz="1800">
                <a:solidFill>
                  <a:srgbClr val="18352D"/>
                </a:solidFill>
              </a:defRPr>
            </a:lvl8pPr>
            <a:lvl9pPr>
              <a:defRPr sz="180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18352D"/>
                </a:solidFill>
              </a:defRPr>
            </a:pPr>
            <a:r>
              <a:rPr sz="1800">
                <a:solidFill>
                  <a:srgbClr val="18352D"/>
                </a:solidFill>
              </a:rPr>
              <a:t>Demo: https://lotus-hotel-ai.onrender.com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020247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30598-B370-405B-904B-ED085137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Demo và minh chứng SDLC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42BDC-60A6-4048-9555-FF9637F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72F52-A202-40E9-93E4-3396A6D5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Lịch phòng và tư vấn → đặt phòng và thu cọc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Nhận phòng → dịch vụ → trả phòng và PDF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Dọn phòng → báo cáo và email nháp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Git Flow: main, dev và feature theo từng phần việc</a:t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Nhật ký AI, test và giới hạn được ghi trong báo cáo.</a:t>
            </a:r>
          </a:p>
        </p:txBody>
      </p:sp>
    </p:spTree>
    <p:extLst>
      <p:ext uri="{BB962C8B-B14F-4D97-AF65-F5344CB8AC3E}">
        <p14:creationId xmlns:p14="http://schemas.microsoft.com/office/powerpoint/2010/main" val="567369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2026-10-23T16:45:02.2610000Z</dcterms:created>
  <dcterms:modified xsi:type="dcterms:W3CDTF">2026-10-23T16:45:02.2610000Z</dcterms:modified>
</coreProperties>
</file>